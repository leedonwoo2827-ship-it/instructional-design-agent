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9" r:id="rId20"/>
    <p:sldId id="270" r:id="rId21"/>
    <p:sldId id="283" r:id="rId34"/>
    <p:sldId id="330" r:id="rId81"/>
    <p:sldId id="336" r:id="rId87"/>
    <p:sldId id="337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9" Type="http://schemas.openxmlformats.org/officeDocument/2006/relationships/slide" Target="slides/slide13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34" Type="http://schemas.openxmlformats.org/officeDocument/2006/relationships/slide" Target="slides/slide10.xml"/><Relationship Id="rId81" Type="http://schemas.openxmlformats.org/officeDocument/2006/relationships/slide" Target="slides/slide11.xml"/><Relationship Id="rId8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10" name="deco910"/>
          <p:cNvSpPr/>
          <p:nvPr/>
        </p:nvSpPr>
        <p:spPr>
          <a:xfrm>
            <a:off x="10250000" y="-1000000"/>
            <a:ext cx="2900000" cy="2900000"/>
          </a:xfrm>
          <a:prstGeom prst="ellipse">
            <a:avLst/>
          </a:prstGeom>
          <a:solidFill>
            <a:srgbClr val="DCEEF9"/>
          </a:solidFill>
          <a:ln>
            <a:noFill/>
          </a:ln>
        </p:spPr>
        <p:txBody>
          <a:bodyPr/>
          <a:lstStyle/>
          <a:p/>
        </p:txBody>
      </p:sp>
      <p:sp>
        <p:nvSpPr>
          <p:cNvPr id="911" name="deco911"/>
          <p:cNvSpPr/>
          <p:nvPr/>
        </p:nvSpPr>
        <p:spPr>
          <a:xfrm>
            <a:off x="9750000" y="600000"/>
            <a:ext cx="1000000" cy="1000000"/>
          </a:xfrm>
          <a:prstGeom prst="ellipse">
            <a:avLst/>
          </a:prstGeom>
          <a:solidFill>
            <a:srgbClr val="7CCBA0"/>
          </a:solidFill>
          <a:ln>
            <a:noFill/>
          </a:ln>
        </p:spPr>
        <p:txBody>
          <a:bodyPr/>
          <a:lstStyle/>
          <a:p/>
        </p:txBody>
      </p:sp>
      <p:sp>
        <p:nvSpPr>
          <p:cNvPr id="912" name="deco912"/>
          <p:cNvSpPr/>
          <p:nvPr/>
        </p:nvSpPr>
        <p:spPr>
          <a:xfrm>
            <a:off x="10600000" y="4650000"/>
            <a:ext cx="2300000" cy="2300000"/>
          </a:xfrm>
          <a:prstGeom prst="ellipse">
            <a:avLst/>
          </a:prstGeom>
          <a:solidFill>
            <a:srgbClr val="DDF3E7"/>
          </a:solidFill>
          <a:ln>
            <a:noFill/>
          </a:ln>
        </p:spPr>
        <p:txBody>
          <a:bodyPr/>
          <a:lstStyle/>
          <a:p/>
        </p:txBody>
      </p:sp>
      <p:sp>
        <p:nvSpPr>
          <p:cNvPr id="913" name="deco913"/>
          <p:cNvSpPr/>
          <p:nvPr/>
        </p:nvSpPr>
        <p:spPr>
          <a:xfrm>
            <a:off x="10250000" y="4250000"/>
            <a:ext cx="600000" cy="600000"/>
          </a:xfrm>
          <a:prstGeom prst="ellipse">
            <a:avLst/>
          </a:prstGeom>
          <a:solidFill>
            <a:srgbClr val="8FCD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0" y="0"/>
            <a:ext cx="4343400" cy="6858000"/>
          </a:xfrm>
          <a:prstGeom prst="rect">
            <a:avLst/>
          </a:prstGeom>
          <a:solidFill>
            <a:srgbClr val="2E9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43400" y="0"/>
            <a:ext cx="77724" cy="6858000"/>
          </a:xfrm>
          <a:prstGeom prst="rect">
            <a:avLst/>
          </a:prstGeom>
          <a:solidFill>
            <a:srgbClr val="4CB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71323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4CB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230368"/>
            <a:ext cx="33375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spc="154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LECTURE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교육방법 및 교육공학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1768" y="2505456"/>
            <a:ext cx="6638544" cy="1783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spc="-100">
                <a:latin typeface="Noto Sans KR"/>
                <a:ea typeface="Noto Sans KR"/>
                <a:cs typeface="Noto Sans KR"/>
                <a:solidFill>
                  <a:srgbClr val="334155"/>
                </a:solidFill>
              </a:rPr>
              <a:t xml:space="preserve">교육방법 및 </a:t>
            </a:r>
            <a:r>
              <a:rPr sz="4200" b="1" spc="-100">
                <a:latin typeface="Noto Sans KR"/>
                <a:ea typeface="Noto Sans KR"/>
                <a:cs typeface="Noto Sans KR"/>
                <a:solidFill>
                  <a:srgbClr val="2E93D9"/>
                </a:solidFill>
              </a:rPr>
              <a:t xml:space="preserve">교육공학</a:t>
            </a:r>
            <a:r>
              <a:rPr sz="4200" b="1" spc="-100">
                <a:latin typeface="Noto Sans KR"/>
                <a:ea typeface="Noto Sans KR"/>
                <a:cs typeface="Noto Sans KR"/>
                <a:solidFill>
                  <a:srgbClr val="334155"/>
                </a:solidFill>
              </a:rPr>
              <a:t xml:space="preserve">_2주차_슬라이드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1768" y="4443984"/>
            <a:ext cx="457200" cy="41148"/>
          </a:xfrm>
          <a:prstGeom prst="roundRect">
            <a:avLst>
              <a:gd name="adj" fmla="val 50000"/>
            </a:avLst>
          </a:prstGeom>
          <a:solidFill>
            <a:srgbClr val="4CB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1768" y="4645152"/>
            <a:ext cx="6638544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94A3B8"/>
                </a:solidFill>
                <a:latin typeface="Noto Sans KR"/>
                <a:ea typeface="Noto Sans KR"/>
                <a:cs typeface="Noto Sans KR"/>
              </a:rPr>
              <a:t>2주차 · 교육방법 및 교육공학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0" name="deco920"/>
          <p:cNvSpPr/>
          <p:nvPr/>
        </p:nvSpPr>
        <p:spPr>
          <a:xfrm>
            <a:off x="10350000" y="-1000000"/>
            <a:ext cx="2750000" cy="2750000"/>
          </a:xfrm>
          <a:prstGeom prst="ellipse">
            <a:avLst/>
          </a:prstGeom>
          <a:solidFill>
            <a:srgbClr val="DCEEF9"/>
          </a:solidFill>
          <a:ln>
            <a:noFill/>
          </a:ln>
        </p:spPr>
        <p:txBody>
          <a:bodyPr/>
          <a:lstStyle/>
          <a:p/>
        </p:txBody>
      </p:sp>
      <p:sp>
        <p:nvSpPr>
          <p:cNvPr id="921" name="deco921"/>
          <p:cNvSpPr/>
          <p:nvPr/>
        </p:nvSpPr>
        <p:spPr>
          <a:xfrm>
            <a:off x="9900000" y="450000"/>
            <a:ext cx="950000" cy="950000"/>
          </a:xfrm>
          <a:prstGeom prst="ellipse">
            <a:avLst/>
          </a:prstGeom>
          <a:solidFill>
            <a:srgbClr val="7CCBA0"/>
          </a:solidFill>
          <a:ln>
            <a:noFill/>
          </a:ln>
        </p:spPr>
        <p:txBody>
          <a:bodyPr/>
          <a:lstStyle/>
          <a:p/>
        </p:txBody>
      </p:sp>
      <p:sp>
        <p:nvSpPr>
          <p:cNvPr id="922" name="deco922"/>
          <p:cNvSpPr/>
          <p:nvPr/>
        </p:nvSpPr>
        <p:spPr>
          <a:xfrm>
            <a:off x="-1300000" y="5450000"/>
            <a:ext cx="2450000" cy="2450000"/>
          </a:xfrm>
          <a:prstGeom prst="ellipse">
            <a:avLst/>
          </a:prstGeom>
          <a:solidFill>
            <a:srgbClr val="DDF3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7799832" y="1417320"/>
            <a:ext cx="3840480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600" b="1" spc="-288">
                <a:solidFill>
                  <a:srgbClr val="E2E8F0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852928"/>
            <a:ext cx="100584" cy="1152144"/>
          </a:xfrm>
          <a:prstGeom prst="roundRect">
            <a:avLst>
              <a:gd name="adj" fmla="val 50000"/>
            </a:avLst>
          </a:prstGeom>
          <a:solidFill>
            <a:srgbClr val="4CB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2724912"/>
            <a:ext cx="10707624" cy="1417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spc="-64">
                <a:latin typeface="Noto Sans KR"/>
                <a:ea typeface="Noto Sans KR"/>
                <a:cs typeface="Noto Sans KR"/>
                <a:solidFill>
                  <a:srgbClr val="334155"/>
                </a:solidFill>
              </a:rPr>
              <a:t xml:space="preserve">2주차: </a:t>
            </a:r>
            <a:r>
              <a:rPr sz="3200" b="1" spc="-64">
                <a:latin typeface="Noto Sans KR"/>
                <a:ea typeface="Noto Sans KR"/>
                <a:cs typeface="Noto Sans KR"/>
                <a:solidFill>
                  <a:srgbClr val="2E93D9"/>
                </a:solidFill>
              </a:rPr>
              <a:t xml:space="preserve">교수설계</a:t>
            </a:r>
            <a:r>
              <a:rPr sz="3200" b="1" spc="-64">
                <a:latin typeface="Noto Sans KR"/>
                <a:ea typeface="Noto Sans KR"/>
                <a:cs typeface="Noto Sans KR"/>
                <a:solidFill>
                  <a:srgbClr val="334155"/>
                </a:solidFill>
              </a:rPr>
              <a:t xml:space="preserve">의 기초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206240"/>
            <a:ext cx="10707624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4A3B8"/>
                </a:solidFill>
                <a:latin typeface="Noto Sans KR"/>
                <a:ea typeface="Noto Sans KR"/>
                <a:cs typeface="Noto Sans KR"/>
              </a:rPr>
              <a:t>교수설계 결정의 근거로서의 학습이론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30" name="deco930"/>
          <p:cNvSpPr/>
          <p:nvPr/>
        </p:nvSpPr>
        <p:spPr>
          <a:xfrm>
            <a:off x="10350000" y="-1000000"/>
            <a:ext cx="2750000" cy="2750000"/>
          </a:xfrm>
          <a:prstGeom prst="ellipse">
            <a:avLst/>
          </a:prstGeom>
          <a:solidFill>
            <a:srgbClr val="DCEEF9"/>
          </a:solidFill>
          <a:ln>
            <a:noFill/>
          </a:ln>
        </p:spPr>
        <p:txBody>
          <a:bodyPr/>
          <a:lstStyle/>
          <a:p/>
        </p:txBody>
      </p:sp>
      <p:sp>
        <p:nvSpPr>
          <p:cNvPr id="931" name="deco931"/>
          <p:cNvSpPr/>
          <p:nvPr/>
        </p:nvSpPr>
        <p:spPr>
          <a:xfrm>
            <a:off x="9900000" y="450000"/>
            <a:ext cx="950000" cy="950000"/>
          </a:xfrm>
          <a:prstGeom prst="ellipse">
            <a:avLst/>
          </a:prstGeom>
          <a:solidFill>
            <a:srgbClr val="7CCBA0"/>
          </a:solidFill>
          <a:ln>
            <a:noFill/>
          </a:ln>
        </p:spPr>
        <p:txBody>
          <a:bodyPr/>
          <a:lstStyle/>
          <a:p/>
        </p:txBody>
      </p:sp>
      <p:sp>
        <p:nvSpPr>
          <p:cNvPr id="932" name="deco932"/>
          <p:cNvSpPr/>
          <p:nvPr/>
        </p:nvSpPr>
        <p:spPr>
          <a:xfrm>
            <a:off x="-1300000" y="5450000"/>
            <a:ext cx="2450000" cy="2450000"/>
          </a:xfrm>
          <a:prstGeom prst="ellipse">
            <a:avLst/>
          </a:prstGeom>
          <a:solidFill>
            <a:srgbClr val="DDF3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548640" y="475488"/>
            <a:ext cx="731520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154">
                <a:solidFill>
                  <a:srgbClr val="94A3B8"/>
                </a:solidFill>
                <a:latin typeface="Noto Sans KR"/>
                <a:ea typeface="Noto Sans KR"/>
                <a:cs typeface="Noto Sans KR"/>
              </a:rPr>
              <a:t>복습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1672" cy="8595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spc="-56">
                <a:latin typeface="Noto Sans KR"/>
                <a:ea typeface="Noto Sans KR"/>
                <a:cs typeface="Noto Sans KR"/>
                <a:solidFill>
                  <a:srgbClr val="334155"/>
                </a:solidFill>
              </a:rPr>
              <a:t xml:space="preserve">복습: 교육방법과 </a:t>
            </a:r>
            <a:r>
              <a:rPr sz="2800" b="1" spc="-56">
                <a:latin typeface="Noto Sans KR"/>
                <a:ea typeface="Noto Sans KR"/>
                <a:cs typeface="Noto Sans KR"/>
                <a:solidFill>
                  <a:srgbClr val="2E93D9"/>
                </a:solidFill>
              </a:rPr>
              <a:t xml:space="preserve">교육공학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17904"/>
            <a:ext cx="566928" cy="45720"/>
          </a:xfrm>
          <a:prstGeom prst="roundRect">
            <a:avLst>
              <a:gd name="adj" fmla="val 50000"/>
            </a:avLst>
          </a:prstGeom>
          <a:solidFill>
            <a:srgbClr val="4CB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10378440" cy="7863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latin typeface="Noto Sans KR"/>
                <a:ea typeface="Noto Sans KR"/>
                <a:cs typeface="Noto Sans KR"/>
                <a:solidFill>
                  <a:srgbClr val="2E93D9"/>
                </a:solidFill>
              </a:rPr>
              <a:t>교육방법은 실행, 교육공학은 체제적 접근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5353812" cy="3310128"/>
          </a:xfrm>
          <a:prstGeom prst="roundRect">
            <a:avLst>
              <a:gd name="adj" fmla="val 2762"/>
            </a:avLst>
          </a:prstGeom>
          <a:solidFill>
            <a:srgbClr val="F1F5F9"/>
          </a:solidFill>
          <a:ln>
            <a:noFill/>
          </a:ln>
          <a:effectLst>
            <a:outerShdw blurRad="109728" dist="27432" dir="5400000" rotWithShape="0">
              <a:srgbClr val="2E93D9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5353812" cy="548640"/>
          </a:xfrm>
          <a:prstGeom prst="roundRect">
            <a:avLst>
              <a:gd name="adj" fmla="val 16666"/>
            </a:avLst>
          </a:prstGeom>
          <a:solidFill>
            <a:srgbClr val="2E9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5353812" cy="91440"/>
          </a:xfrm>
          <a:prstGeom prst="rect">
            <a:avLst/>
          </a:prstGeom>
          <a:solidFill>
            <a:srgbClr val="2E9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4988052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교육방법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529584"/>
            <a:ext cx="4750308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marL="201168" indent="-20116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CB782"/>
                </a:solidFill>
                <a:latin typeface="Noto Sans KR"/>
                <a:ea typeface="Noto Sans KR"/>
                <a:cs typeface="Noto Sans KR"/>
              </a:rPr>
              <a:t>· </a:t>
            </a:r>
            <a:r>
              <a:rPr sz="14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가르치는 방식·절차</a:t>
            </a:r>
          </a:p>
          <a:p>
            <a:pPr marL="201168" indent="-20116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CB782"/>
                </a:solidFill>
                <a:latin typeface="Noto Sans KR"/>
                <a:ea typeface="Noto Sans KR"/>
                <a:cs typeface="Noto Sans KR"/>
              </a:rPr>
              <a:t>· </a:t>
            </a:r>
            <a:r>
              <a:rPr sz="14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수업 실행 수준</a:t>
            </a:r>
          </a:p>
          <a:p>
            <a:pPr marL="201168" indent="-20116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CB782"/>
                </a:solidFill>
                <a:latin typeface="Noto Sans KR"/>
                <a:ea typeface="Noto Sans KR"/>
                <a:cs typeface="Noto Sans KR"/>
              </a:rPr>
              <a:t>· </a:t>
            </a:r>
            <a:r>
              <a:rPr sz="14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학습 촉진이 목적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6500" y="2743200"/>
            <a:ext cx="5353812" cy="3310128"/>
          </a:xfrm>
          <a:prstGeom prst="roundRect">
            <a:avLst>
              <a:gd name="adj" fmla="val 2762"/>
            </a:avLst>
          </a:prstGeom>
          <a:solidFill>
            <a:srgbClr val="F1F5F9"/>
          </a:solidFill>
          <a:ln>
            <a:noFill/>
          </a:ln>
          <a:effectLst>
            <a:outerShdw blurRad="109728" dist="27432" dir="5400000" rotWithShape="0">
              <a:srgbClr val="2E93D9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86500" y="2743200"/>
            <a:ext cx="5353812" cy="548640"/>
          </a:xfrm>
          <a:prstGeom prst="roundRect">
            <a:avLst>
              <a:gd name="adj" fmla="val 16666"/>
            </a:avLst>
          </a:prstGeom>
          <a:solidFill>
            <a:srgbClr val="4CB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86500" y="3200400"/>
            <a:ext cx="5353812" cy="91440"/>
          </a:xfrm>
          <a:prstGeom prst="rect">
            <a:avLst/>
          </a:prstGeom>
          <a:solidFill>
            <a:srgbClr val="4CB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9380" y="2743200"/>
            <a:ext cx="4988052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E93D9"/>
                </a:solidFill>
                <a:latin typeface="Noto Sans KR"/>
                <a:ea typeface="Noto Sans KR"/>
                <a:cs typeface="Noto Sans KR"/>
              </a:rPr>
              <a:t>교육공학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7396" y="3529584"/>
            <a:ext cx="4750308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marL="201168" indent="-20116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CB782"/>
                </a:solidFill>
                <a:latin typeface="Noto Sans KR"/>
                <a:ea typeface="Noto Sans KR"/>
                <a:cs typeface="Noto Sans KR"/>
              </a:rPr>
              <a:t>· </a:t>
            </a:r>
            <a:r>
              <a:rPr sz="14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과정·자원의 설계</a:t>
            </a:r>
          </a:p>
          <a:p>
            <a:pPr marL="201168" indent="-20116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CB782"/>
                </a:solidFill>
                <a:latin typeface="Noto Sans KR"/>
                <a:ea typeface="Noto Sans KR"/>
                <a:cs typeface="Noto Sans KR"/>
              </a:rPr>
              <a:t>· </a:t>
            </a:r>
            <a:r>
              <a:rPr sz="14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체제적 접근 수준</a:t>
            </a:r>
          </a:p>
          <a:p>
            <a:pPr marL="201168" indent="-20116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CB782"/>
                </a:solidFill>
                <a:latin typeface="Noto Sans KR"/>
                <a:ea typeface="Noto Sans KR"/>
                <a:cs typeface="Noto Sans KR"/>
              </a:rPr>
              <a:t>· </a:t>
            </a:r>
            <a:r>
              <a:rPr sz="14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학습 촉진이 목적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309360"/>
            <a:ext cx="1109167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382512"/>
            <a:ext cx="8229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Noto Sans KR"/>
                <a:ea typeface="Noto Sans KR"/>
                <a:cs typeface="Noto Sans KR"/>
              </a:rPr>
              <a:t>교육방법 및 교육공학 · 2주차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43032" y="6382512"/>
            <a:ext cx="109728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0" name="deco940"/>
          <p:cNvSpPr/>
          <p:nvPr/>
        </p:nvSpPr>
        <p:spPr>
          <a:xfrm>
            <a:off x="10350000" y="-1000000"/>
            <a:ext cx="2750000" cy="2750000"/>
          </a:xfrm>
          <a:prstGeom prst="ellipse">
            <a:avLst/>
          </a:prstGeom>
          <a:solidFill>
            <a:srgbClr val="DCEEF9"/>
          </a:solidFill>
          <a:ln>
            <a:noFill/>
          </a:ln>
        </p:spPr>
        <p:txBody>
          <a:bodyPr/>
          <a:lstStyle/>
          <a:p/>
        </p:txBody>
      </p:sp>
      <p:sp>
        <p:nvSpPr>
          <p:cNvPr id="941" name="deco941"/>
          <p:cNvSpPr/>
          <p:nvPr/>
        </p:nvSpPr>
        <p:spPr>
          <a:xfrm>
            <a:off x="9900000" y="450000"/>
            <a:ext cx="950000" cy="950000"/>
          </a:xfrm>
          <a:prstGeom prst="ellipse">
            <a:avLst/>
          </a:prstGeom>
          <a:solidFill>
            <a:srgbClr val="7CCBA0"/>
          </a:solidFill>
          <a:ln>
            <a:noFill/>
          </a:ln>
        </p:spPr>
        <p:txBody>
          <a:bodyPr/>
          <a:lstStyle/>
          <a:p/>
        </p:txBody>
      </p:sp>
      <p:sp>
        <p:nvSpPr>
          <p:cNvPr id="942" name="deco942"/>
          <p:cNvSpPr/>
          <p:nvPr/>
        </p:nvSpPr>
        <p:spPr>
          <a:xfrm>
            <a:off x="-1300000" y="5450000"/>
            <a:ext cx="2450000" cy="2450000"/>
          </a:xfrm>
          <a:prstGeom prst="ellipse">
            <a:avLst/>
          </a:prstGeom>
          <a:solidFill>
            <a:srgbClr val="DDF3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548640" y="475488"/>
            <a:ext cx="731520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154">
                <a:solidFill>
                  <a:srgbClr val="94A3B8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1672" cy="8595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spc="-56">
                <a:latin typeface="Noto Sans KR"/>
                <a:ea typeface="Noto Sans KR"/>
                <a:cs typeface="Noto Sans KR"/>
                <a:solidFill>
                  <a:srgbClr val="334155"/>
                </a:solidFill>
              </a:rPr>
              <a:t xml:space="preserve">오늘의 </a:t>
            </a:r>
            <a:r>
              <a:rPr sz="2800" b="1" spc="-56">
                <a:latin typeface="Noto Sans KR"/>
                <a:ea typeface="Noto Sans KR"/>
                <a:cs typeface="Noto Sans KR"/>
                <a:solidFill>
                  <a:srgbClr val="2E93D9"/>
                </a:solidFill>
              </a:rPr>
              <a:t xml:space="preserve">학습목표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17904"/>
            <a:ext cx="566928" cy="45720"/>
          </a:xfrm>
          <a:prstGeom prst="roundRect">
            <a:avLst>
              <a:gd name="adj" fmla="val 50000"/>
            </a:avLst>
          </a:prstGeom>
          <a:solidFill>
            <a:srgbClr val="4CB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10378440" cy="7863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latin typeface="Noto Sans KR"/>
                <a:ea typeface="Noto Sans KR"/>
                <a:cs typeface="Noto Sans KR"/>
                <a:solidFill>
                  <a:srgbClr val="2E93D9"/>
                </a:solidFill>
              </a:rPr>
              <a:t>오늘 도달할 세 지점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16351"/>
            <a:ext cx="1188720" cy="9570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spc="-68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9343" y="2907791"/>
            <a:ext cx="18288" cy="77419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47088" y="2816351"/>
            <a:ext cx="9793224" cy="9570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교수이론 네 요소 설명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56303"/>
            <a:ext cx="1188720" cy="9570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spc="-68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9343" y="4047743"/>
            <a:ext cx="18288" cy="77419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47088" y="3956303"/>
            <a:ext cx="9793224" cy="9570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세 학습이론 비교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96256"/>
            <a:ext cx="1188720" cy="9570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spc="-68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9343" y="5187696"/>
            <a:ext cx="18288" cy="77419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47088" y="5096256"/>
            <a:ext cx="9793224" cy="9570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사례의 이론–활동 정합성 판단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309360"/>
            <a:ext cx="1109167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382512"/>
            <a:ext cx="8229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Noto Sans KR"/>
                <a:ea typeface="Noto Sans KR"/>
                <a:cs typeface="Noto Sans KR"/>
              </a:rPr>
              <a:t>교육방법 및 교육공학 · 2주차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43032" y="6382512"/>
            <a:ext cx="109728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50" name="deco950"/>
          <p:cNvSpPr/>
          <p:nvPr/>
        </p:nvSpPr>
        <p:spPr>
          <a:xfrm>
            <a:off x="10350000" y="-1000000"/>
            <a:ext cx="2750000" cy="2750000"/>
          </a:xfrm>
          <a:prstGeom prst="ellipse">
            <a:avLst/>
          </a:prstGeom>
          <a:solidFill>
            <a:srgbClr val="DCEEF9"/>
          </a:solidFill>
          <a:ln>
            <a:noFill/>
          </a:ln>
        </p:spPr>
        <p:txBody>
          <a:bodyPr/>
          <a:lstStyle/>
          <a:p/>
        </p:txBody>
      </p:sp>
      <p:sp>
        <p:nvSpPr>
          <p:cNvPr id="951" name="deco951"/>
          <p:cNvSpPr/>
          <p:nvPr/>
        </p:nvSpPr>
        <p:spPr>
          <a:xfrm>
            <a:off x="9900000" y="450000"/>
            <a:ext cx="950000" cy="950000"/>
          </a:xfrm>
          <a:prstGeom prst="ellipse">
            <a:avLst/>
          </a:prstGeom>
          <a:solidFill>
            <a:srgbClr val="7CCBA0"/>
          </a:solidFill>
          <a:ln>
            <a:noFill/>
          </a:ln>
        </p:spPr>
        <p:txBody>
          <a:bodyPr/>
          <a:lstStyle/>
          <a:p/>
        </p:txBody>
      </p:sp>
      <p:sp>
        <p:nvSpPr>
          <p:cNvPr id="952" name="deco952"/>
          <p:cNvSpPr/>
          <p:nvPr/>
        </p:nvSpPr>
        <p:spPr>
          <a:xfrm>
            <a:off x="-1300000" y="5450000"/>
            <a:ext cx="2450000" cy="2450000"/>
          </a:xfrm>
          <a:prstGeom prst="ellipse">
            <a:avLst/>
          </a:prstGeom>
          <a:solidFill>
            <a:srgbClr val="DDF3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548640" y="475488"/>
            <a:ext cx="731520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154">
                <a:solidFill>
                  <a:srgbClr val="94A3B8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1672" cy="8595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spc="-56">
                <a:latin typeface="Noto Sans KR"/>
                <a:ea typeface="Noto Sans KR"/>
                <a:cs typeface="Noto Sans KR"/>
                <a:solidFill>
                  <a:srgbClr val="334155"/>
                </a:solidFill>
              </a:rPr>
              <a:t xml:space="preserve">왜 </a:t>
            </a:r>
            <a:r>
              <a:rPr sz="2800" b="1" spc="-56">
                <a:latin typeface="Noto Sans KR"/>
                <a:ea typeface="Noto Sans KR"/>
                <a:cs typeface="Noto Sans KR"/>
                <a:solidFill>
                  <a:srgbClr val="2E93D9"/>
                </a:solidFill>
              </a:rPr>
              <a:t xml:space="preserve">이론</a:t>
            </a:r>
            <a:r>
              <a:rPr sz="2800" b="1" spc="-56">
                <a:latin typeface="Noto Sans KR"/>
                <a:ea typeface="Noto Sans KR"/>
                <a:cs typeface="Noto Sans KR"/>
                <a:solidFill>
                  <a:srgbClr val="334155"/>
                </a:solidFill>
              </a:rPr>
              <a:t xml:space="preserve">이 먼저인가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17904"/>
            <a:ext cx="566928" cy="45720"/>
          </a:xfrm>
          <a:prstGeom prst="roundRect">
            <a:avLst>
              <a:gd name="adj" fmla="val 50000"/>
            </a:avLst>
          </a:prstGeom>
          <a:solidFill>
            <a:srgbClr val="4CB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rcRect l="20161" r="20161"/>
          <a:stretch>
            <a:fillRect/>
          </a:stretch>
        </p:blipFill>
        <p:spPr>
          <a:xfrm>
            <a:off x="7818120" y="1719072"/>
            <a:ext cx="3822191" cy="4288536"/>
          </a:xfrm>
          <a:prstGeom prst="roundRect">
            <a:avLst>
              <a:gd name="adj" fmla="val 2392"/>
            </a:avLst>
          </a:prstGeom>
          <a:effectLst>
            <a:outerShdw blurRad="146304" dist="36576" dir="5400000" rotWithShape="0">
              <a:srgbClr val="2E93D9">
                <a:alpha val="14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548640" y="1719072"/>
            <a:ext cx="6236207" cy="7863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latin typeface="Noto Sans KR"/>
                <a:ea typeface="Noto Sans KR"/>
                <a:cs typeface="Noto Sans KR"/>
                <a:solidFill>
                  <a:srgbClr val="2E93D9"/>
                </a:solidFill>
              </a:rPr>
              <a:t>이론 없는 설계는 활동 나열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743200"/>
            <a:ext cx="6876288" cy="33101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rmAutofit/>
          </a:bodyPr>
          <a:lstStyle/>
          <a:p>
            <a:pPr marL="219456" indent="-219456">
              <a:lnSpc>
                <a:spcPct val="14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4CB782"/>
                </a:solidFill>
                <a:latin typeface="Noto Sans KR"/>
                <a:ea typeface="Noto Sans KR"/>
                <a:cs typeface="Noto Sans KR"/>
              </a:rPr>
              <a:t>▸ </a:t>
            </a:r>
            <a:r>
              <a:rPr sz="15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같은 내용, 다른 수업 결과</a:t>
            </a:r>
          </a:p>
          <a:p>
            <a:pPr marL="219456" indent="-219456">
              <a:lnSpc>
                <a:spcPct val="14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4CB782"/>
                </a:solidFill>
                <a:latin typeface="Noto Sans KR"/>
                <a:ea typeface="Noto Sans KR"/>
                <a:cs typeface="Noto Sans KR"/>
              </a:rPr>
              <a:t>▸ </a:t>
            </a:r>
            <a:r>
              <a:rPr sz="15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활동 먼저 정한 수업의 한계</a:t>
            </a:r>
          </a:p>
          <a:p>
            <a:pPr marL="219456" indent="-219456">
              <a:lnSpc>
                <a:spcPct val="14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4CB782"/>
                </a:solidFill>
                <a:latin typeface="Noto Sans KR"/>
                <a:ea typeface="Noto Sans KR"/>
                <a:cs typeface="Noto Sans KR"/>
              </a:rPr>
              <a:t>▸ </a:t>
            </a:r>
            <a:r>
              <a:rPr sz="15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"왜 이 방법인가"에 대한 답</a:t>
            </a:r>
          </a:p>
          <a:p>
            <a:pPr marL="219456" indent="-219456">
              <a:lnSpc>
                <a:spcPct val="14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4CB782"/>
                </a:solidFill>
                <a:latin typeface="Noto Sans KR"/>
                <a:ea typeface="Noto Sans KR"/>
                <a:cs typeface="Noto Sans KR"/>
              </a:rPr>
              <a:t>▸ </a:t>
            </a:r>
            <a:r>
              <a:rPr sz="15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설계 근거로서의 학습이론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09360"/>
            <a:ext cx="1109167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382512"/>
            <a:ext cx="8229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Noto Sans KR"/>
                <a:ea typeface="Noto Sans KR"/>
                <a:cs typeface="Noto Sans KR"/>
              </a:rPr>
              <a:t>교육방법 및 교육공학 · 2주차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43032" y="6382512"/>
            <a:ext cx="109728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60" name="deco960"/>
          <p:cNvSpPr/>
          <p:nvPr/>
        </p:nvSpPr>
        <p:spPr>
          <a:xfrm>
            <a:off x="10350000" y="-1000000"/>
            <a:ext cx="2750000" cy="2750000"/>
          </a:xfrm>
          <a:prstGeom prst="ellipse">
            <a:avLst/>
          </a:prstGeom>
          <a:solidFill>
            <a:srgbClr val="DCEEF9"/>
          </a:solidFill>
          <a:ln>
            <a:noFill/>
          </a:ln>
        </p:spPr>
        <p:txBody>
          <a:bodyPr/>
          <a:lstStyle/>
          <a:p/>
        </p:txBody>
      </p:sp>
      <p:sp>
        <p:nvSpPr>
          <p:cNvPr id="961" name="deco961"/>
          <p:cNvSpPr/>
          <p:nvPr/>
        </p:nvSpPr>
        <p:spPr>
          <a:xfrm>
            <a:off x="9900000" y="450000"/>
            <a:ext cx="950000" cy="950000"/>
          </a:xfrm>
          <a:prstGeom prst="ellipse">
            <a:avLst/>
          </a:prstGeom>
          <a:solidFill>
            <a:srgbClr val="7CCBA0"/>
          </a:solidFill>
          <a:ln>
            <a:noFill/>
          </a:ln>
        </p:spPr>
        <p:txBody>
          <a:bodyPr/>
          <a:lstStyle/>
          <a:p/>
        </p:txBody>
      </p:sp>
      <p:sp>
        <p:nvSpPr>
          <p:cNvPr id="962" name="deco962"/>
          <p:cNvSpPr/>
          <p:nvPr/>
        </p:nvSpPr>
        <p:spPr>
          <a:xfrm>
            <a:off x="-1300000" y="5450000"/>
            <a:ext cx="2450000" cy="2450000"/>
          </a:xfrm>
          <a:prstGeom prst="ellipse">
            <a:avLst/>
          </a:prstGeom>
          <a:solidFill>
            <a:srgbClr val="DDF3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548640" y="475488"/>
            <a:ext cx="731520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154">
                <a:solidFill>
                  <a:srgbClr val="94A3B8"/>
                </a:solidFill>
                <a:latin typeface="Noto Sans KR"/>
                <a:ea typeface="Noto Sans KR"/>
                <a:cs typeface="Noto Sans KR"/>
              </a:rPr>
              <a:t>복습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1672" cy="8595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spc="-56">
                <a:latin typeface="Noto Sans KR"/>
                <a:ea typeface="Noto Sans KR"/>
                <a:cs typeface="Noto Sans KR"/>
                <a:solidFill>
                  <a:srgbClr val="334155"/>
                </a:solidFill>
              </a:rPr>
              <a:t xml:space="preserve">교육공학의 </a:t>
            </a:r>
            <a:r>
              <a:rPr sz="2800" b="1" spc="-56">
                <a:latin typeface="Noto Sans KR"/>
                <a:ea typeface="Noto Sans KR"/>
                <a:cs typeface="Noto Sans KR"/>
                <a:solidFill>
                  <a:srgbClr val="2E93D9"/>
                </a:solidFill>
              </a:rPr>
              <a:t xml:space="preserve">5대 영역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17904"/>
            <a:ext cx="566928" cy="45720"/>
          </a:xfrm>
          <a:prstGeom prst="roundRect">
            <a:avLst>
              <a:gd name="adj" fmla="val 50000"/>
            </a:avLst>
          </a:prstGeom>
          <a:solidFill>
            <a:srgbClr val="4CB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10378440" cy="7863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latin typeface="Noto Sans KR"/>
                <a:ea typeface="Noto Sans KR"/>
                <a:cs typeface="Noto Sans KR"/>
                <a:solidFill>
                  <a:srgbClr val="2E93D9"/>
                </a:solidFill>
              </a:rPr>
              <a:t>설계는 나머지 네 영역의 출발점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2539746" cy="256032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18872" dist="27432" dir="5400000" rotWithShape="0">
              <a:srgbClr val="2E93D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2539746" cy="128016"/>
          </a:xfrm>
          <a:prstGeom prst="roundRect">
            <a:avLst>
              <a:gd name="adj" fmla="val 50000"/>
            </a:avLst>
          </a:prstGeom>
          <a:solidFill>
            <a:srgbClr val="2E9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59" y="3127248"/>
            <a:ext cx="274320" cy="68580"/>
          </a:xfrm>
          <a:prstGeom prst="roundRect">
            <a:avLst>
              <a:gd name="adj" fmla="val 50000"/>
            </a:avLst>
          </a:prstGeom>
          <a:solidFill>
            <a:srgbClr val="2E9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072384"/>
            <a:ext cx="199110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2E93D9"/>
                </a:solidFill>
                <a:latin typeface="Noto Sans KR"/>
                <a:ea typeface="Noto Sans KR"/>
                <a:cs typeface="Noto Sans KR"/>
              </a:rPr>
              <a:t>설계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639312"/>
            <a:ext cx="1991106" cy="14264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목표·전략 결정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9282" y="2743200"/>
            <a:ext cx="2539746" cy="256032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18872" dist="27432" dir="5400000" rotWithShape="0">
              <a:srgbClr val="2E93D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99282" y="2743200"/>
            <a:ext cx="2539746" cy="128016"/>
          </a:xfrm>
          <a:prstGeom prst="roundRect">
            <a:avLst>
              <a:gd name="adj" fmla="val 50000"/>
            </a:avLst>
          </a:prstGeom>
          <a:solidFill>
            <a:srgbClr val="46A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73602" y="3127248"/>
            <a:ext cx="274320" cy="6858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3602" y="3072384"/>
            <a:ext cx="199110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2E93D9"/>
                </a:solidFill>
                <a:latin typeface="Noto Sans KR"/>
                <a:ea typeface="Noto Sans KR"/>
                <a:cs typeface="Noto Sans KR"/>
              </a:rPr>
              <a:t>개발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3602" y="3639312"/>
            <a:ext cx="1991106" cy="14264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자료 제작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9924" y="2743200"/>
            <a:ext cx="2539746" cy="256032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18872" dist="27432" dir="5400000" rotWithShape="0">
              <a:srgbClr val="2E93D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49924" y="2743200"/>
            <a:ext cx="2539746" cy="128016"/>
          </a:xfrm>
          <a:prstGeom prst="roundRect">
            <a:avLst>
              <a:gd name="adj" fmla="val 50000"/>
            </a:avLst>
          </a:prstGeom>
          <a:solidFill>
            <a:srgbClr val="74C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24244" y="3127248"/>
            <a:ext cx="274320" cy="6858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4244" y="3072384"/>
            <a:ext cx="199110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2E93D9"/>
                </a:solidFill>
                <a:latin typeface="Noto Sans KR"/>
                <a:ea typeface="Noto Sans KR"/>
                <a:cs typeface="Noto Sans KR"/>
              </a:rPr>
              <a:t>활용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4244" y="3639312"/>
            <a:ext cx="1991106" cy="14264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매체 적용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00566" y="2743200"/>
            <a:ext cx="2539746" cy="256032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18872" dist="27432" dir="5400000" rotWithShape="0">
              <a:srgbClr val="2E93D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00566" y="2743200"/>
            <a:ext cx="2539746" cy="128016"/>
          </a:xfrm>
          <a:prstGeom prst="roundRect">
            <a:avLst>
              <a:gd name="adj" fmla="val 50000"/>
            </a:avLst>
          </a:prstGeom>
          <a:solidFill>
            <a:srgbClr val="A6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74886" y="3127248"/>
            <a:ext cx="274320" cy="6858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4886" y="3072384"/>
            <a:ext cx="1991106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2E93D9"/>
                </a:solidFill>
                <a:latin typeface="Noto Sans KR"/>
                <a:ea typeface="Noto Sans KR"/>
                <a:cs typeface="Noto Sans KR"/>
              </a:rPr>
              <a:t>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4886" y="3639312"/>
            <a:ext cx="1991106" cy="14264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3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자원·프로젝트 운영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504688"/>
            <a:ext cx="11091672" cy="548640"/>
          </a:xfrm>
          <a:prstGeom prst="roundRect">
            <a:avLst>
              <a:gd name="adj" fmla="val 16666"/>
            </a:avLst>
          </a:prstGeom>
          <a:solidFill>
            <a:srgbClr val="D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5504688"/>
            <a:ext cx="73152" cy="548640"/>
          </a:xfrm>
          <a:prstGeom prst="roundRect">
            <a:avLst>
              <a:gd name="adj" fmla="val 50000"/>
            </a:avLst>
          </a:prstGeom>
          <a:solidFill>
            <a:srgbClr val="4CB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5504688"/>
            <a:ext cx="10543032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7D5B"/>
                </a:solidFill>
                <a:latin typeface="Noto Sans KR"/>
                <a:ea typeface="Noto Sans KR"/>
                <a:cs typeface="Noto Sans KR"/>
              </a:rPr>
              <a:t>핵심   </a:t>
            </a:r>
            <a:r>
              <a:rPr sz="1350" b="1">
                <a:solidFill>
                  <a:srgbClr val="2E93D9"/>
                </a:solidFill>
                <a:latin typeface="Noto Sans KR"/>
                <a:ea typeface="Noto Sans KR"/>
                <a:cs typeface="Noto Sans KR"/>
              </a:rPr>
              <a:t>평가: 효과 확인으로 순환 완성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309360"/>
            <a:ext cx="1109167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382512"/>
            <a:ext cx="8229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Noto Sans KR"/>
                <a:ea typeface="Noto Sans KR"/>
                <a:cs typeface="Noto Sans KR"/>
              </a:rPr>
              <a:t>교육방법 및 교육공학 · 2주차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43032" y="6382512"/>
            <a:ext cx="109728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70" name="deco970"/>
          <p:cNvSpPr/>
          <p:nvPr/>
        </p:nvSpPr>
        <p:spPr>
          <a:xfrm>
            <a:off x="10350000" y="-1000000"/>
            <a:ext cx="2750000" cy="2750000"/>
          </a:xfrm>
          <a:prstGeom prst="ellipse">
            <a:avLst/>
          </a:prstGeom>
          <a:solidFill>
            <a:srgbClr val="DCEEF9"/>
          </a:solidFill>
          <a:ln>
            <a:noFill/>
          </a:ln>
        </p:spPr>
        <p:txBody>
          <a:bodyPr/>
          <a:lstStyle/>
          <a:p/>
        </p:txBody>
      </p:sp>
      <p:sp>
        <p:nvSpPr>
          <p:cNvPr id="971" name="deco971"/>
          <p:cNvSpPr/>
          <p:nvPr/>
        </p:nvSpPr>
        <p:spPr>
          <a:xfrm>
            <a:off x="9900000" y="450000"/>
            <a:ext cx="950000" cy="950000"/>
          </a:xfrm>
          <a:prstGeom prst="ellipse">
            <a:avLst/>
          </a:prstGeom>
          <a:solidFill>
            <a:srgbClr val="7CCBA0"/>
          </a:solidFill>
          <a:ln>
            <a:noFill/>
          </a:ln>
        </p:spPr>
        <p:txBody>
          <a:bodyPr/>
          <a:lstStyle/>
          <a:p/>
        </p:txBody>
      </p:sp>
      <p:sp>
        <p:nvSpPr>
          <p:cNvPr id="972" name="deco972"/>
          <p:cNvSpPr/>
          <p:nvPr/>
        </p:nvSpPr>
        <p:spPr>
          <a:xfrm>
            <a:off x="-1300000" y="5450000"/>
            <a:ext cx="2450000" cy="2450000"/>
          </a:xfrm>
          <a:prstGeom prst="ellipse">
            <a:avLst/>
          </a:prstGeom>
          <a:solidFill>
            <a:srgbClr val="DDF3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548640" y="475488"/>
            <a:ext cx="731520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154">
                <a:solidFill>
                  <a:srgbClr val="94A3B8"/>
                </a:solidFill>
                <a:latin typeface="Noto Sans KR"/>
                <a:ea typeface="Noto Sans KR"/>
                <a:cs typeface="Noto Sans KR"/>
              </a:rPr>
              <a:t>용어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1672" cy="8595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spc="-56">
                <a:latin typeface="Noto Sans KR"/>
                <a:ea typeface="Noto Sans KR"/>
                <a:cs typeface="Noto Sans KR"/>
                <a:solidFill>
                  <a:srgbClr val="334155"/>
                </a:solidFill>
              </a:rPr>
              <a:t xml:space="preserve">수업·교수·학습의 </a:t>
            </a:r>
            <a:r>
              <a:rPr sz="2800" b="1" spc="-56">
                <a:latin typeface="Noto Sans KR"/>
                <a:ea typeface="Noto Sans KR"/>
                <a:cs typeface="Noto Sans KR"/>
                <a:solidFill>
                  <a:srgbClr val="2E93D9"/>
                </a:solidFill>
              </a:rPr>
              <a:t xml:space="preserve">구분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17904"/>
            <a:ext cx="566928" cy="45720"/>
          </a:xfrm>
          <a:prstGeom prst="roundRect">
            <a:avLst>
              <a:gd name="adj" fmla="val 50000"/>
            </a:avLst>
          </a:prstGeom>
          <a:solidFill>
            <a:srgbClr val="4CB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10378440" cy="7863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latin typeface="Noto Sans KR"/>
                <a:ea typeface="Noto Sans KR"/>
                <a:cs typeface="Noto Sans KR"/>
                <a:solidFill>
                  <a:srgbClr val="2E93D9"/>
                </a:solidFill>
              </a:rPr>
              <a:t>주체와 범위의 차이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779775"/>
          <a:ext cx="11091672" cy="1682496"/>
        </p:xfrm>
        <a:graphic>
          <a:graphicData uri="http://schemas.openxmlformats.org/drawingml/2006/table">
            <a:tbl>
              <a:tblPr firstRow="1"/>
              <a:tblGrid>
                <a:gridCol w="3697224"/>
                <a:gridCol w="3697224"/>
                <a:gridCol w="3697224"/>
              </a:tblGrid>
              <a:tr h="420624"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용어</a:t>
                      </a:r>
                    </a:p>
                  </a:txBody>
                  <a:tcPr anchor="ctr" marL="91440" marR="91440" marT="27432" marB="27432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2E9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주체</a:t>
                      </a:r>
                    </a:p>
                  </a:txBody>
                  <a:tcPr anchor="ctr" marL="91440" marR="91440" marT="27432" marB="27432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2E9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초점</a:t>
                      </a:r>
                    </a:p>
                  </a:txBody>
                  <a:tcPr anchor="ctr" marL="91440" marR="91440" marT="27432" marB="27432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2E93D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150" b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학습</a:t>
                      </a:r>
                    </a:p>
                  </a:txBody>
                  <a:tcPr anchor="ctr" marL="91440" marR="91440" marT="27432" marB="27432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150" b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학습자</a:t>
                      </a:r>
                    </a:p>
                  </a:txBody>
                  <a:tcPr anchor="ctr" marL="91440" marR="91440" marT="27432" marB="27432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150" b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내적 변화</a:t>
                      </a:r>
                    </a:p>
                  </a:txBody>
                  <a:tcPr anchor="ctr" marL="91440" marR="91440" marT="27432" marB="27432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150" b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교수</a:t>
                      </a:r>
                    </a:p>
                  </a:txBody>
                  <a:tcPr anchor="ctr" marL="91440" marR="91440" marT="27432" marB="27432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150" b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교수자</a:t>
                      </a:r>
                    </a:p>
                  </a:txBody>
                  <a:tcPr anchor="ctr" marL="91440" marR="91440" marT="27432" marB="27432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150" b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변화 촉진 활동</a:t>
                      </a:r>
                    </a:p>
                  </a:txBody>
                  <a:tcPr anchor="ctr" marL="91440" marR="91440" marT="27432" marB="27432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150" b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수업</a:t>
                      </a:r>
                    </a:p>
                  </a:txBody>
                  <a:tcPr anchor="ctr" marL="91440" marR="91440" marT="27432" marB="27432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150" b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교수자·학습자</a:t>
                      </a:r>
                    </a:p>
                  </a:txBody>
                  <a:tcPr anchor="ctr" marL="91440" marR="91440" marT="27432" marB="27432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150" b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상호작용 장면</a:t>
                      </a:r>
                    </a:p>
                  </a:txBody>
                  <a:tcPr anchor="ctr" marL="91440" marR="91440" marT="27432" marB="27432">
                    <a:lnL w="12700" cap="flat" cmpd="sng" algn="ctr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309360"/>
            <a:ext cx="1109167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82512"/>
            <a:ext cx="8229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Noto Sans KR"/>
                <a:ea typeface="Noto Sans KR"/>
                <a:cs typeface="Noto Sans KR"/>
              </a:rPr>
              <a:t>교육방법 및 교육공학 · 2주차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3032" y="6382512"/>
            <a:ext cx="109728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80" name="deco980"/>
          <p:cNvSpPr/>
          <p:nvPr/>
        </p:nvSpPr>
        <p:spPr>
          <a:xfrm>
            <a:off x="10350000" y="-1000000"/>
            <a:ext cx="2750000" cy="2750000"/>
          </a:xfrm>
          <a:prstGeom prst="ellipse">
            <a:avLst/>
          </a:prstGeom>
          <a:solidFill>
            <a:srgbClr val="DCEEF9"/>
          </a:solidFill>
          <a:ln>
            <a:noFill/>
          </a:ln>
        </p:spPr>
        <p:txBody>
          <a:bodyPr/>
          <a:lstStyle/>
          <a:p/>
        </p:txBody>
      </p:sp>
      <p:sp>
        <p:nvSpPr>
          <p:cNvPr id="981" name="deco981"/>
          <p:cNvSpPr/>
          <p:nvPr/>
        </p:nvSpPr>
        <p:spPr>
          <a:xfrm>
            <a:off x="9900000" y="450000"/>
            <a:ext cx="950000" cy="950000"/>
          </a:xfrm>
          <a:prstGeom prst="ellipse">
            <a:avLst/>
          </a:prstGeom>
          <a:solidFill>
            <a:srgbClr val="7CCBA0"/>
          </a:solidFill>
          <a:ln>
            <a:noFill/>
          </a:ln>
        </p:spPr>
        <p:txBody>
          <a:bodyPr/>
          <a:lstStyle/>
          <a:p/>
        </p:txBody>
      </p:sp>
      <p:sp>
        <p:nvSpPr>
          <p:cNvPr id="982" name="deco982"/>
          <p:cNvSpPr/>
          <p:nvPr/>
        </p:nvSpPr>
        <p:spPr>
          <a:xfrm>
            <a:off x="-1300000" y="5450000"/>
            <a:ext cx="2450000" cy="2450000"/>
          </a:xfrm>
          <a:prstGeom prst="ellipse">
            <a:avLst/>
          </a:prstGeom>
          <a:solidFill>
            <a:srgbClr val="DDF3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548640" y="475488"/>
            <a:ext cx="731520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154">
                <a:solidFill>
                  <a:srgbClr val="94A3B8"/>
                </a:solidFill>
                <a:latin typeface="Noto Sans KR"/>
                <a:ea typeface="Noto Sans KR"/>
                <a:cs typeface="Noto Sans KR"/>
              </a:rPr>
              <a:t>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1672" cy="8595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spc="-56">
                <a:latin typeface="Noto Sans KR"/>
                <a:ea typeface="Noto Sans KR"/>
                <a:cs typeface="Noto Sans KR"/>
                <a:solidFill>
                  <a:srgbClr val="334155"/>
                </a:solidFill>
              </a:rPr>
              <a:t xml:space="preserve">이론에서 </a:t>
            </a:r>
            <a:r>
              <a:rPr sz="2800" b="1" spc="-56">
                <a:latin typeface="Noto Sans KR"/>
                <a:ea typeface="Noto Sans KR"/>
                <a:cs typeface="Noto Sans KR"/>
                <a:solidFill>
                  <a:srgbClr val="2E93D9"/>
                </a:solidFill>
              </a:rPr>
              <a:t xml:space="preserve">전략</a:t>
            </a:r>
            <a:r>
              <a:rPr sz="2800" b="1" spc="-56">
                <a:latin typeface="Noto Sans KR"/>
                <a:ea typeface="Noto Sans KR"/>
                <a:cs typeface="Noto Sans KR"/>
                <a:solidFill>
                  <a:srgbClr val="334155"/>
                </a:solidFill>
              </a:rPr>
              <a:t xml:space="preserve">까지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17904"/>
            <a:ext cx="566928" cy="45720"/>
          </a:xfrm>
          <a:prstGeom prst="roundRect">
            <a:avLst>
              <a:gd name="adj" fmla="val 50000"/>
            </a:avLst>
          </a:prstGeom>
          <a:solidFill>
            <a:srgbClr val="4CB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10378440" cy="7863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latin typeface="Noto Sans KR"/>
                <a:ea typeface="Noto Sans KR"/>
                <a:cs typeface="Noto Sans KR"/>
                <a:solidFill>
                  <a:srgbClr val="2E93D9"/>
                </a:solidFill>
              </a:rPr>
              <a:t>원리를 거쳐 이론에서 나오는 전략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62072"/>
            <a:ext cx="2526030" cy="1298448"/>
          </a:xfrm>
          <a:prstGeom prst="roundRect">
            <a:avLst>
              <a:gd name="adj" fmla="val 7042"/>
            </a:avLst>
          </a:prstGeom>
          <a:solidFill>
            <a:srgbClr val="2E93D9"/>
          </a:solidFill>
          <a:ln>
            <a:noFill/>
          </a:ln>
          <a:effectLst>
            <a:outerShdw blurRad="109728" dist="27432" dir="5400000" rotWithShape="0">
              <a:srgbClr val="2E93D9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862072"/>
            <a:ext cx="2306574" cy="12984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학습이론 선택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7" y="4288536"/>
            <a:ext cx="2398014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학습을 보는 관점 결정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20390" y="3392424"/>
            <a:ext cx="237744" cy="237744"/>
          </a:xfrm>
          <a:prstGeom prst="rightArrow">
            <a:avLst/>
          </a:prstGeom>
          <a:solidFill>
            <a:srgbClr val="4CB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03854" y="2862072"/>
            <a:ext cx="2526030" cy="1298448"/>
          </a:xfrm>
          <a:prstGeom prst="roundRect">
            <a:avLst>
              <a:gd name="adj" fmla="val 7042"/>
            </a:avLst>
          </a:prstGeom>
          <a:solidFill>
            <a:srgbClr val="46A9C9"/>
          </a:solidFill>
          <a:ln>
            <a:noFill/>
          </a:ln>
          <a:effectLst>
            <a:outerShdw blurRad="109728" dist="27432" dir="5400000" rotWithShape="0">
              <a:srgbClr val="2E93D9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3582" y="2862072"/>
            <a:ext cx="2306574" cy="12984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교수원리 도출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7862" y="4288536"/>
            <a:ext cx="2398014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관점에서 원리 추출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75604" y="3392424"/>
            <a:ext cx="237744" cy="237744"/>
          </a:xfrm>
          <a:prstGeom prst="rightArrow">
            <a:avLst/>
          </a:prstGeom>
          <a:solidFill>
            <a:srgbClr val="4CB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59068" y="2862072"/>
            <a:ext cx="2526030" cy="1298448"/>
          </a:xfrm>
          <a:prstGeom prst="roundRect">
            <a:avLst>
              <a:gd name="adj" fmla="val 7042"/>
            </a:avLst>
          </a:prstGeom>
          <a:solidFill>
            <a:srgbClr val="74C6AE"/>
          </a:solidFill>
          <a:ln>
            <a:noFill/>
          </a:ln>
          <a:effectLst>
            <a:outerShdw blurRad="109728" dist="27432" dir="5400000" rotWithShape="0">
              <a:srgbClr val="2E93D9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8796" y="2862072"/>
            <a:ext cx="2306574" cy="12984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설계전략 구체화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3076" y="4288536"/>
            <a:ext cx="2398014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원리를 전략으로 번역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30818" y="3392424"/>
            <a:ext cx="237744" cy="237744"/>
          </a:xfrm>
          <a:prstGeom prst="rightArrow">
            <a:avLst/>
          </a:prstGeom>
          <a:solidFill>
            <a:srgbClr val="4CB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14282" y="2862072"/>
            <a:ext cx="2526030" cy="1298448"/>
          </a:xfrm>
          <a:prstGeom prst="roundRect">
            <a:avLst>
              <a:gd name="adj" fmla="val 7042"/>
            </a:avLst>
          </a:prstGeom>
          <a:solidFill>
            <a:srgbClr val="4CB782"/>
          </a:solidFill>
          <a:ln>
            <a:noFill/>
          </a:ln>
          <a:effectLst>
            <a:outerShdw blurRad="109728" dist="27432" dir="5400000" rotWithShape="0">
              <a:srgbClr val="2E93D9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24009" y="2862072"/>
            <a:ext cx="2306574" cy="12984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활동·자료 실행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8290" y="4288536"/>
            <a:ext cx="2398014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수업 장면으로 구현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04688"/>
            <a:ext cx="11091672" cy="548640"/>
          </a:xfrm>
          <a:prstGeom prst="roundRect">
            <a:avLst>
              <a:gd name="adj" fmla="val 16666"/>
            </a:avLst>
          </a:prstGeom>
          <a:solidFill>
            <a:srgbClr val="D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5504688"/>
            <a:ext cx="73152" cy="548640"/>
          </a:xfrm>
          <a:prstGeom prst="roundRect">
            <a:avLst>
              <a:gd name="adj" fmla="val 50000"/>
            </a:avLst>
          </a:prstGeom>
          <a:solidFill>
            <a:srgbClr val="4CB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5504688"/>
            <a:ext cx="10543032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7D5B"/>
                </a:solidFill>
                <a:latin typeface="Noto Sans KR"/>
                <a:ea typeface="Noto Sans KR"/>
                <a:cs typeface="Noto Sans KR"/>
              </a:rPr>
              <a:t>핵심   </a:t>
            </a:r>
            <a:r>
              <a:rPr sz="1350" b="1">
                <a:solidFill>
                  <a:srgbClr val="2E93D9"/>
                </a:solidFill>
                <a:latin typeface="Noto Sans KR"/>
                <a:ea typeface="Noto Sans KR"/>
                <a:cs typeface="Noto Sans KR"/>
              </a:rPr>
              <a:t>역방향 점검으로 정합성 확인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309360"/>
            <a:ext cx="1109167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382512"/>
            <a:ext cx="8229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Noto Sans KR"/>
                <a:ea typeface="Noto Sans KR"/>
                <a:cs typeface="Noto Sans KR"/>
              </a:rPr>
              <a:t>교육방법 및 교육공학 · 2주차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43032" y="6382512"/>
            <a:ext cx="109728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0" name="deco990"/>
          <p:cNvSpPr/>
          <p:nvPr/>
        </p:nvSpPr>
        <p:spPr>
          <a:xfrm>
            <a:off x="10350000" y="-1000000"/>
            <a:ext cx="2750000" cy="2750000"/>
          </a:xfrm>
          <a:prstGeom prst="ellipse">
            <a:avLst/>
          </a:prstGeom>
          <a:solidFill>
            <a:srgbClr val="DCEEF9"/>
          </a:solidFill>
          <a:ln>
            <a:noFill/>
          </a:ln>
        </p:spPr>
        <p:txBody>
          <a:bodyPr/>
          <a:lstStyle/>
          <a:p/>
        </p:txBody>
      </p:sp>
      <p:sp>
        <p:nvSpPr>
          <p:cNvPr id="991" name="deco991"/>
          <p:cNvSpPr/>
          <p:nvPr/>
        </p:nvSpPr>
        <p:spPr>
          <a:xfrm>
            <a:off x="9900000" y="450000"/>
            <a:ext cx="950000" cy="950000"/>
          </a:xfrm>
          <a:prstGeom prst="ellipse">
            <a:avLst/>
          </a:prstGeom>
          <a:solidFill>
            <a:srgbClr val="7CCBA0"/>
          </a:solidFill>
          <a:ln>
            <a:noFill/>
          </a:ln>
        </p:spPr>
        <p:txBody>
          <a:bodyPr/>
          <a:lstStyle/>
          <a:p/>
        </p:txBody>
      </p:sp>
      <p:sp>
        <p:nvSpPr>
          <p:cNvPr id="992" name="deco992"/>
          <p:cNvSpPr/>
          <p:nvPr/>
        </p:nvSpPr>
        <p:spPr>
          <a:xfrm>
            <a:off x="-1300000" y="5450000"/>
            <a:ext cx="2450000" cy="2450000"/>
          </a:xfrm>
          <a:prstGeom prst="ellipse">
            <a:avLst/>
          </a:prstGeom>
          <a:solidFill>
            <a:srgbClr val="DDF3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548640" y="731520"/>
            <a:ext cx="11091672" cy="8595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spc="-56">
                <a:latin typeface="Noto Sans KR"/>
                <a:ea typeface="Noto Sans KR"/>
                <a:cs typeface="Noto Sans KR"/>
                <a:solidFill>
                  <a:srgbClr val="334155"/>
                </a:solidFill>
              </a:rPr>
              <a:t xml:space="preserve">학습이론 → 교수원리 → 설계전략의 </a:t>
            </a:r>
            <a:r>
              <a:rPr sz="2800" b="1" spc="-56">
                <a:latin typeface="Noto Sans KR"/>
                <a:ea typeface="Noto Sans KR"/>
                <a:cs typeface="Noto Sans KR"/>
                <a:solidFill>
                  <a:srgbClr val="2E93D9"/>
                </a:solidFill>
              </a:rPr>
              <a:t xml:space="preserve">연결 구조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17904"/>
            <a:ext cx="566928" cy="45720"/>
          </a:xfrm>
          <a:prstGeom prst="roundRect">
            <a:avLst>
              <a:gd name="adj" fmla="val 50000"/>
            </a:avLst>
          </a:prstGeom>
          <a:solidFill>
            <a:srgbClr val="4CB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t="941" b="941"/>
          <a:stretch>
            <a:fillRect/>
          </a:stretch>
        </p:blipFill>
        <p:spPr>
          <a:xfrm>
            <a:off x="548640" y="1719072"/>
            <a:ext cx="4370832" cy="4288536"/>
          </a:xfrm>
          <a:prstGeom prst="roundRect">
            <a:avLst>
              <a:gd name="adj" fmla="val 2132"/>
            </a:avLst>
          </a:prstGeom>
          <a:effectLst>
            <a:outerShdw blurRad="146304" dist="36576" dir="5400000" rotWithShape="0">
              <a:srgbClr val="2E93D9">
                <a:alpha val="14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5230368" y="1719072"/>
            <a:ext cx="5696712" cy="7863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latin typeface="Noto Sans KR"/>
                <a:ea typeface="Noto Sans KR"/>
                <a:cs typeface="Noto Sans KR"/>
                <a:solidFill>
                  <a:srgbClr val="2E93D9"/>
                </a:solidFill>
              </a:rPr>
              <a:t>전략은 원리를 거쳐 이론에서 나옴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66944" y="2743200"/>
            <a:ext cx="6336792" cy="33101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rmAutofit/>
          </a:bodyPr>
          <a:lstStyle/>
          <a:p>
            <a:pPr marL="219456" indent="-219456">
              <a:lnSpc>
                <a:spcPct val="14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4CB782"/>
                </a:solidFill>
                <a:latin typeface="Noto Sans KR"/>
                <a:ea typeface="Noto Sans KR"/>
                <a:cs typeface="Noto Sans KR"/>
              </a:rPr>
              <a:t>▸ </a:t>
            </a:r>
            <a:r>
              <a:rPr sz="15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1단계: 학습이론 선택</a:t>
            </a:r>
          </a:p>
          <a:p>
            <a:pPr marL="219456" indent="-219456">
              <a:lnSpc>
                <a:spcPct val="14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4CB782"/>
                </a:solidFill>
                <a:latin typeface="Noto Sans KR"/>
                <a:ea typeface="Noto Sans KR"/>
                <a:cs typeface="Noto Sans KR"/>
              </a:rPr>
              <a:t>▸ </a:t>
            </a:r>
            <a:r>
              <a:rPr sz="15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2단계: 교수원리 도출</a:t>
            </a:r>
          </a:p>
          <a:p>
            <a:pPr marL="219456" indent="-219456">
              <a:lnSpc>
                <a:spcPct val="14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4CB782"/>
                </a:solidFill>
                <a:latin typeface="Noto Sans KR"/>
                <a:ea typeface="Noto Sans KR"/>
                <a:cs typeface="Noto Sans KR"/>
              </a:rPr>
              <a:t>▸ </a:t>
            </a:r>
            <a:r>
              <a:rPr sz="15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3단계: 설계전략 구체화</a:t>
            </a:r>
          </a:p>
          <a:p>
            <a:pPr marL="219456" indent="-219456">
              <a:lnSpc>
                <a:spcPct val="14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4CB782"/>
                </a:solidFill>
                <a:latin typeface="Noto Sans KR"/>
                <a:ea typeface="Noto Sans KR"/>
                <a:cs typeface="Noto Sans KR"/>
              </a:rPr>
              <a:t>▸ </a:t>
            </a:r>
            <a:r>
              <a:rPr sz="15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4단계: 수업 활동·자료 실행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09360"/>
            <a:ext cx="1109167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82512"/>
            <a:ext cx="8229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Noto Sans KR"/>
                <a:ea typeface="Noto Sans KR"/>
                <a:cs typeface="Noto Sans KR"/>
              </a:rPr>
              <a:t>교육방법 및 교육공학 · 2주차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3032" y="6382512"/>
            <a:ext cx="109728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0" name="deco1000"/>
          <p:cNvSpPr/>
          <p:nvPr/>
        </p:nvSpPr>
        <p:spPr>
          <a:xfrm>
            <a:off x="10350000" y="-1000000"/>
            <a:ext cx="2750000" cy="2750000"/>
          </a:xfrm>
          <a:prstGeom prst="ellipse">
            <a:avLst/>
          </a:prstGeom>
          <a:solidFill>
            <a:srgbClr val="DCEEF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" name="deco1001"/>
          <p:cNvSpPr/>
          <p:nvPr/>
        </p:nvSpPr>
        <p:spPr>
          <a:xfrm>
            <a:off x="9900000" y="450000"/>
            <a:ext cx="950000" cy="950000"/>
          </a:xfrm>
          <a:prstGeom prst="ellipse">
            <a:avLst/>
          </a:prstGeom>
          <a:solidFill>
            <a:srgbClr val="7CCB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2" name="deco1002"/>
          <p:cNvSpPr/>
          <p:nvPr/>
        </p:nvSpPr>
        <p:spPr>
          <a:xfrm>
            <a:off x="-1300000" y="5450000"/>
            <a:ext cx="2450000" cy="2450000"/>
          </a:xfrm>
          <a:prstGeom prst="ellipse">
            <a:avLst/>
          </a:prstGeom>
          <a:solidFill>
            <a:srgbClr val="DDF3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548640" y="475488"/>
            <a:ext cx="731520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154">
                <a:solidFill>
                  <a:srgbClr val="94A3B8"/>
                </a:solidFill>
                <a:latin typeface="Noto Sans KR"/>
                <a:ea typeface="Noto Sans KR"/>
                <a:cs typeface="Noto Sans KR"/>
              </a:rPr>
              <a:t>수치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1672" cy="8595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spc="-56">
                <a:latin typeface="Noto Sans KR"/>
                <a:ea typeface="Noto Sans KR"/>
                <a:cs typeface="Noto Sans KR"/>
                <a:solidFill>
                  <a:srgbClr val="334155"/>
                </a:solidFill>
              </a:rPr>
              <a:t xml:space="preserve">작업기억의 </a:t>
            </a:r>
            <a:r>
              <a:rPr sz="2800" b="1" spc="-56">
                <a:latin typeface="Noto Sans KR"/>
                <a:ea typeface="Noto Sans KR"/>
                <a:cs typeface="Noto Sans KR"/>
                <a:solidFill>
                  <a:srgbClr val="2E93D9"/>
                </a:solidFill>
              </a:rPr>
              <a:t xml:space="preserve">용량 한계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17904"/>
            <a:ext cx="566928" cy="45720"/>
          </a:xfrm>
          <a:prstGeom prst="roundRect">
            <a:avLst>
              <a:gd name="adj" fmla="val 50000"/>
            </a:avLst>
          </a:prstGeom>
          <a:solidFill>
            <a:srgbClr val="4CB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10378440" cy="7863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latin typeface="Noto Sans KR"/>
                <a:ea typeface="Noto Sans KR"/>
                <a:cs typeface="Noto Sans KR"/>
                <a:solidFill>
                  <a:srgbClr val="2E93D9"/>
                </a:solidFill>
              </a:rPr>
              <a:t>동시 처리 가능한 소수 정보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5390388" cy="2468879"/>
          </a:xfrm>
          <a:prstGeom prst="roundRect">
            <a:avLst>
              <a:gd name="adj" fmla="val 370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87802" y="3145536"/>
            <a:ext cx="512064" cy="45720"/>
          </a:xfrm>
          <a:prstGeom prst="roundRect">
            <a:avLst>
              <a:gd name="adj" fmla="val 50000"/>
            </a:avLst>
          </a:prstGeom>
          <a:solidFill>
            <a:srgbClr val="4CB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93008"/>
            <a:ext cx="5024628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 spc="-156">
                <a:solidFill>
                  <a:srgbClr val="2E93D9"/>
                </a:solidFill>
                <a:latin typeface="Noto Sans KR"/>
                <a:ea typeface="Noto Sans KR"/>
                <a:cs typeface="Noto Sans KR"/>
              </a:rPr>
              <a:t>4±1개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00600"/>
            <a:ext cx="4750308" cy="36575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동시 유지 정보 항목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9924" y="2834640"/>
            <a:ext cx="5390388" cy="2468879"/>
          </a:xfrm>
          <a:prstGeom prst="roundRect">
            <a:avLst>
              <a:gd name="adj" fmla="val 370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9086" y="3145536"/>
            <a:ext cx="512064" cy="45720"/>
          </a:xfrm>
          <a:prstGeom prst="roundRect">
            <a:avLst>
              <a:gd name="adj" fmla="val 50000"/>
            </a:avLst>
          </a:prstGeom>
          <a:solidFill>
            <a:srgbClr val="4CB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2804" y="3493008"/>
            <a:ext cx="5024628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 spc="-156">
                <a:solidFill>
                  <a:srgbClr val="2E93D9"/>
                </a:solidFill>
                <a:latin typeface="Noto Sans KR"/>
                <a:ea typeface="Noto Sans KR"/>
                <a:cs typeface="Noto Sans KR"/>
              </a:rPr>
              <a:t>약 20초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9964" y="4800600"/>
            <a:ext cx="4750308" cy="36575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되뇜 없는 유지 시간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504688"/>
            <a:ext cx="11091672" cy="548640"/>
          </a:xfrm>
          <a:prstGeom prst="roundRect">
            <a:avLst>
              <a:gd name="adj" fmla="val 16666"/>
            </a:avLst>
          </a:prstGeom>
          <a:solidFill>
            <a:srgbClr val="D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5504688"/>
            <a:ext cx="73152" cy="548640"/>
          </a:xfrm>
          <a:prstGeom prst="roundRect">
            <a:avLst>
              <a:gd name="adj" fmla="val 50000"/>
            </a:avLst>
          </a:prstGeom>
          <a:solidFill>
            <a:srgbClr val="4CB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504688"/>
            <a:ext cx="10543032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7D5B"/>
                </a:solidFill>
                <a:latin typeface="Noto Sans KR"/>
                <a:ea typeface="Noto Sans KR"/>
                <a:cs typeface="Noto Sans KR"/>
              </a:rPr>
              <a:t>핵심   </a:t>
            </a:r>
            <a:r>
              <a:rPr sz="1350" b="1">
                <a:solidFill>
                  <a:srgbClr val="2E93D9"/>
                </a:solidFill>
                <a:latin typeface="Noto Sans KR"/>
                <a:ea typeface="Noto Sans KR"/>
                <a:cs typeface="Noto Sans KR"/>
              </a:rPr>
              <a:t>인지부하의 관리 근거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309360"/>
            <a:ext cx="1109167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382512"/>
            <a:ext cx="8229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Noto Sans KR"/>
                <a:ea typeface="Noto Sans KR"/>
                <a:cs typeface="Noto Sans KR"/>
              </a:rPr>
              <a:t>교육방법 및 교육공학 · 2주차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3032" y="6382512"/>
            <a:ext cx="109728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0" name="deco1010"/>
          <p:cNvSpPr/>
          <p:nvPr/>
        </p:nvSpPr>
        <p:spPr>
          <a:xfrm>
            <a:off x="10350000" y="-1000000"/>
            <a:ext cx="2750000" cy="2750000"/>
          </a:xfrm>
          <a:prstGeom prst="ellipse">
            <a:avLst/>
          </a:prstGeom>
          <a:solidFill>
            <a:srgbClr val="DCEEF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1" name="deco1011"/>
          <p:cNvSpPr/>
          <p:nvPr/>
        </p:nvSpPr>
        <p:spPr>
          <a:xfrm>
            <a:off x="9900000" y="450000"/>
            <a:ext cx="950000" cy="950000"/>
          </a:xfrm>
          <a:prstGeom prst="ellipse">
            <a:avLst/>
          </a:prstGeom>
          <a:solidFill>
            <a:srgbClr val="7CCB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2" name="deco1012"/>
          <p:cNvSpPr/>
          <p:nvPr/>
        </p:nvSpPr>
        <p:spPr>
          <a:xfrm>
            <a:off x="-1300000" y="5450000"/>
            <a:ext cx="2450000" cy="2450000"/>
          </a:xfrm>
          <a:prstGeom prst="ellipse">
            <a:avLst/>
          </a:prstGeom>
          <a:solidFill>
            <a:srgbClr val="DDF3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548640" y="475488"/>
            <a:ext cx="731520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154">
                <a:solidFill>
                  <a:srgbClr val="94A3B8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1672" cy="8595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spc="-56">
                <a:latin typeface="Noto Sans KR"/>
                <a:ea typeface="Noto Sans KR"/>
                <a:cs typeface="Noto Sans KR"/>
                <a:solidFill>
                  <a:srgbClr val="334155"/>
                </a:solidFill>
              </a:rPr>
              <a:t xml:space="preserve">형성평가: </a:t>
            </a:r>
            <a:r>
              <a:rPr sz="2800" b="1" spc="-56">
                <a:latin typeface="Noto Sans KR"/>
                <a:ea typeface="Noto Sans KR"/>
                <a:cs typeface="Noto Sans KR"/>
                <a:solidFill>
                  <a:srgbClr val="2E93D9"/>
                </a:solidFill>
              </a:rPr>
              <a:t xml:space="preserve">개념 확인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17904"/>
            <a:ext cx="566928" cy="45720"/>
          </a:xfrm>
          <a:prstGeom prst="roundRect">
            <a:avLst>
              <a:gd name="adj" fmla="val 50000"/>
            </a:avLst>
          </a:prstGeom>
          <a:solidFill>
            <a:srgbClr val="4CB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10378440" cy="7863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latin typeface="Noto Sans KR"/>
                <a:ea typeface="Noto Sans KR"/>
                <a:cs typeface="Noto Sans KR"/>
                <a:solidFill>
                  <a:srgbClr val="2E93D9"/>
                </a:solidFill>
              </a:rPr>
              <a:t>교수이론이 학습이론과 구별되는 특징은?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16351"/>
            <a:ext cx="11091672" cy="53492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946653"/>
            <a:ext cx="274320" cy="274320"/>
          </a:xfrm>
          <a:prstGeom prst="ellipse">
            <a:avLst/>
          </a:prstGeom>
          <a:solidFill>
            <a:srgbClr val="2E9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16351"/>
            <a:ext cx="274320" cy="5349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2816351"/>
            <a:ext cx="10268712" cy="5349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학습 과정의 기술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97579"/>
            <a:ext cx="11091672" cy="53492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627882"/>
            <a:ext cx="274320" cy="274320"/>
          </a:xfrm>
          <a:prstGeom prst="ellipse">
            <a:avLst/>
          </a:prstGeom>
          <a:solidFill>
            <a:srgbClr val="2E9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97579"/>
            <a:ext cx="274320" cy="5349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3497579"/>
            <a:ext cx="10268712" cy="5349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목표 달성 방법의 처방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78808"/>
            <a:ext cx="11091672" cy="53492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309110"/>
            <a:ext cx="274320" cy="274320"/>
          </a:xfrm>
          <a:prstGeom prst="ellipse">
            <a:avLst/>
          </a:prstGeom>
          <a:solidFill>
            <a:srgbClr val="2E9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78808"/>
            <a:ext cx="274320" cy="5349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4178808"/>
            <a:ext cx="10268712" cy="5349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발달 단계의 설명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60036"/>
            <a:ext cx="11091672" cy="53492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4990338"/>
            <a:ext cx="274320" cy="274320"/>
          </a:xfrm>
          <a:prstGeom prst="ellipse">
            <a:avLst/>
          </a:prstGeom>
          <a:solidFill>
            <a:srgbClr val="2E9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60036"/>
            <a:ext cx="274320" cy="5349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" y="4860036"/>
            <a:ext cx="10268712" cy="5349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인지구조의 서술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68712" y="5596128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4CB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15016" y="5596128"/>
            <a:ext cx="1078992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E7D5B"/>
                </a:solidFill>
                <a:latin typeface="Noto Sans KR"/>
                <a:ea typeface="Noto Sans KR"/>
                <a:cs typeface="Noto Sans KR"/>
              </a:rPr>
              <a:t>정답  </a:t>
            </a:r>
            <a:r>
              <a:rPr sz="1400" b="1">
                <a:solidFill>
                  <a:srgbClr val="2E93D9"/>
                </a:solidFill>
                <a:latin typeface="Noto Sans KR"/>
                <a:ea typeface="Noto Sans KR"/>
                <a:cs typeface="Noto Sans KR"/>
              </a:rPr>
              <a:t>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309360"/>
            <a:ext cx="1109167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382512"/>
            <a:ext cx="8229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Noto Sans KR"/>
                <a:ea typeface="Noto Sans KR"/>
                <a:cs typeface="Noto Sans KR"/>
              </a:rPr>
              <a:t>교육방법 및 교육공학 · 2주차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43032" y="6382512"/>
            <a:ext cx="109728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75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20" name="deco1020"/>
          <p:cNvSpPr/>
          <p:nvPr/>
        </p:nvSpPr>
        <p:spPr>
          <a:xfrm>
            <a:off x="10350000" y="-1000000"/>
            <a:ext cx="2750000" cy="2750000"/>
          </a:xfrm>
          <a:prstGeom prst="ellipse">
            <a:avLst/>
          </a:prstGeom>
          <a:solidFill>
            <a:srgbClr val="DCEEF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1" name="deco1021"/>
          <p:cNvSpPr/>
          <p:nvPr/>
        </p:nvSpPr>
        <p:spPr>
          <a:xfrm>
            <a:off x="9900000" y="450000"/>
            <a:ext cx="950000" cy="950000"/>
          </a:xfrm>
          <a:prstGeom prst="ellipse">
            <a:avLst/>
          </a:prstGeom>
          <a:solidFill>
            <a:srgbClr val="7CCB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2" name="deco1022"/>
          <p:cNvSpPr/>
          <p:nvPr/>
        </p:nvSpPr>
        <p:spPr>
          <a:xfrm>
            <a:off x="-1300000" y="5450000"/>
            <a:ext cx="2450000" cy="2450000"/>
          </a:xfrm>
          <a:prstGeom prst="ellipse">
            <a:avLst/>
          </a:prstGeom>
          <a:solidFill>
            <a:srgbClr val="DDF3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548640" y="475488"/>
            <a:ext cx="731520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154">
                <a:solidFill>
                  <a:srgbClr val="94A3B8"/>
                </a:solidFill>
                <a:latin typeface="Noto Sans KR"/>
                <a:ea typeface="Noto Sans KR"/>
                <a:cs typeface="Noto Sans KR"/>
              </a:rPr>
              <a:t>예고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1672" cy="8595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spc="-56">
                <a:latin typeface="Noto Sans KR"/>
                <a:ea typeface="Noto Sans KR"/>
                <a:cs typeface="Noto Sans KR"/>
                <a:solidFill>
                  <a:srgbClr val="334155"/>
                </a:solidFill>
              </a:rPr>
              <a:t xml:space="preserve">다음 주 </a:t>
            </a:r>
            <a:r>
              <a:rPr sz="2800" b="1" spc="-56">
                <a:latin typeface="Noto Sans KR"/>
                <a:ea typeface="Noto Sans KR"/>
                <a:cs typeface="Noto Sans KR"/>
                <a:solidFill>
                  <a:srgbClr val="2E93D9"/>
                </a:solidFill>
              </a:rPr>
              <a:t xml:space="preserve">예고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17904"/>
            <a:ext cx="566928" cy="45720"/>
          </a:xfrm>
          <a:prstGeom prst="roundRect">
            <a:avLst>
              <a:gd name="adj" fmla="val 50000"/>
            </a:avLst>
          </a:prstGeom>
          <a:solidFill>
            <a:srgbClr val="4CB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10378440" cy="7863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latin typeface="Noto Sans KR"/>
                <a:ea typeface="Noto Sans KR"/>
                <a:cs typeface="Noto Sans KR"/>
                <a:solidFill>
                  <a:srgbClr val="2E93D9"/>
                </a:solidFill>
              </a:rPr>
              <a:t>이론을 절차로 옮기는 시간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3489960" cy="3310128"/>
          </a:xfrm>
          <a:prstGeom prst="roundRect">
            <a:avLst>
              <a:gd name="adj" fmla="val 276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18872" dist="27432" dir="5400000" rotWithShape="0">
              <a:srgbClr val="2E93D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3489960" cy="128016"/>
          </a:xfrm>
          <a:prstGeom prst="roundRect">
            <a:avLst>
              <a:gd name="adj" fmla="val 50000"/>
            </a:avLst>
          </a:prstGeom>
          <a:solidFill>
            <a:srgbClr val="2E9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54096"/>
            <a:ext cx="2977896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2E93D9"/>
                </a:solidFill>
                <a:latin typeface="Noto Sans KR"/>
                <a:ea typeface="Noto Sans KR"/>
                <a:cs typeface="Noto Sans KR"/>
              </a:rPr>
              <a:t>오늘의 요약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602736"/>
            <a:ext cx="2977896" cy="23042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marL="201168" indent="-20116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CB782"/>
                </a:solidFill>
                <a:latin typeface="Noto Sans KR"/>
                <a:ea typeface="Noto Sans KR"/>
                <a:cs typeface="Noto Sans KR"/>
              </a:rPr>
              <a:t>· </a:t>
            </a:r>
            <a:r>
              <a:rPr sz="14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세 계열과 교수이론의 구별</a:t>
            </a:r>
          </a:p>
          <a:p>
            <a:pPr marL="201168" indent="-20116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CB782"/>
                </a:solidFill>
                <a:latin typeface="Noto Sans KR"/>
                <a:ea typeface="Noto Sans KR"/>
                <a:cs typeface="Noto Sans KR"/>
              </a:rPr>
              <a:t>· </a:t>
            </a:r>
            <a:r>
              <a:rPr sz="14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목표–평가–활동 정렬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9496" y="2743200"/>
            <a:ext cx="3489960" cy="3310128"/>
          </a:xfrm>
          <a:prstGeom prst="roundRect">
            <a:avLst>
              <a:gd name="adj" fmla="val 276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18872" dist="27432" dir="5400000" rotWithShape="0">
              <a:srgbClr val="2E93D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9496" y="2743200"/>
            <a:ext cx="3489960" cy="128016"/>
          </a:xfrm>
          <a:prstGeom prst="roundRect">
            <a:avLst>
              <a:gd name="adj" fmla="val 50000"/>
            </a:avLst>
          </a:prstGeom>
          <a:solidFill>
            <a:srgbClr val="46A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5528" y="3054096"/>
            <a:ext cx="2977896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2E93D9"/>
                </a:solidFill>
                <a:latin typeface="Noto Sans KR"/>
                <a:ea typeface="Noto Sans KR"/>
                <a:cs typeface="Noto Sans KR"/>
              </a:rPr>
              <a:t>다음 차시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5528" y="3602736"/>
            <a:ext cx="2977896" cy="23042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marL="201168" indent="-20116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CB782"/>
                </a:solidFill>
                <a:latin typeface="Noto Sans KR"/>
                <a:ea typeface="Noto Sans KR"/>
                <a:cs typeface="Noto Sans KR"/>
              </a:rPr>
              <a:t>· </a:t>
            </a:r>
            <a:r>
              <a:rPr sz="14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체제적 접근의 의미</a:t>
            </a:r>
          </a:p>
          <a:p>
            <a:pPr marL="201168" indent="-20116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CB782"/>
                </a:solidFill>
                <a:latin typeface="Noto Sans KR"/>
                <a:ea typeface="Noto Sans KR"/>
                <a:cs typeface="Noto Sans KR"/>
              </a:rPr>
              <a:t>· </a:t>
            </a:r>
            <a:r>
              <a:rPr sz="14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ADDIE 5단계와 산출물</a:t>
            </a:r>
          </a:p>
          <a:p>
            <a:pPr marL="201168" indent="-20116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CB782"/>
                </a:solidFill>
                <a:latin typeface="Noto Sans KR"/>
                <a:ea typeface="Noto Sans KR"/>
                <a:cs typeface="Noto Sans KR"/>
              </a:rPr>
              <a:t>· </a:t>
            </a:r>
            <a:r>
              <a:rPr sz="14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Dick &amp; Carey 모형 비교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0352" y="2743200"/>
            <a:ext cx="3489960" cy="3310128"/>
          </a:xfrm>
          <a:prstGeom prst="roundRect">
            <a:avLst>
              <a:gd name="adj" fmla="val 276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18872" dist="27432" dir="5400000" rotWithShape="0">
              <a:srgbClr val="2E93D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0352" y="2743200"/>
            <a:ext cx="3489960" cy="128016"/>
          </a:xfrm>
          <a:prstGeom prst="roundRect">
            <a:avLst>
              <a:gd name="adj" fmla="val 50000"/>
            </a:avLst>
          </a:prstGeom>
          <a:solidFill>
            <a:srgbClr val="74C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6384" y="3054096"/>
            <a:ext cx="2977896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2E93D9"/>
                </a:solidFill>
                <a:latin typeface="Noto Sans KR"/>
                <a:ea typeface="Noto Sans KR"/>
                <a:cs typeface="Noto Sans KR"/>
              </a:rPr>
              <a:t>과제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6384" y="3602736"/>
            <a:ext cx="2977896" cy="23042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marL="201168" indent="-201168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4CB782"/>
                </a:solidFill>
                <a:latin typeface="Noto Sans KR"/>
                <a:ea typeface="Noto Sans KR"/>
                <a:cs typeface="Noto Sans KR"/>
              </a:rPr>
              <a:t>· </a:t>
            </a:r>
            <a:r>
              <a:rPr sz="140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오늘 진단 결과의 활용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309360"/>
            <a:ext cx="1109167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382512"/>
            <a:ext cx="8229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4A3B8"/>
                </a:solidFill>
                <a:latin typeface="Noto Sans KR"/>
                <a:ea typeface="Noto Sans KR"/>
                <a:cs typeface="Noto Sans KR"/>
              </a:rPr>
              <a:t>교육방법 및 교육공학 · 2주차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3032" y="6382512"/>
            <a:ext cx="109728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81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0" name="deco1030"/>
          <p:cNvSpPr/>
          <p:nvPr/>
        </p:nvSpPr>
        <p:spPr>
          <a:xfrm>
            <a:off x="10350000" y="-1000000"/>
            <a:ext cx="2750000" cy="2750000"/>
          </a:xfrm>
          <a:prstGeom prst="ellipse">
            <a:avLst/>
          </a:prstGeom>
          <a:solidFill>
            <a:srgbClr val="DCEEF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1" name="deco1031"/>
          <p:cNvSpPr/>
          <p:nvPr/>
        </p:nvSpPr>
        <p:spPr>
          <a:xfrm>
            <a:off x="9900000" y="450000"/>
            <a:ext cx="950000" cy="950000"/>
          </a:xfrm>
          <a:prstGeom prst="ellipse">
            <a:avLst/>
          </a:prstGeom>
          <a:solidFill>
            <a:srgbClr val="7CCB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2" name="deco1032"/>
          <p:cNvSpPr/>
          <p:nvPr/>
        </p:nvSpPr>
        <p:spPr>
          <a:xfrm>
            <a:off x="-1300000" y="5450000"/>
            <a:ext cx="2450000" cy="2450000"/>
          </a:xfrm>
          <a:prstGeom prst="ellipse">
            <a:avLst/>
          </a:prstGeom>
          <a:solidFill>
            <a:srgbClr val="DDF3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548640" y="475488"/>
            <a:ext cx="731520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154">
                <a:solidFill>
                  <a:srgbClr val="94A3B8"/>
                </a:solidFill>
                <a:latin typeface="Noto Sans KR"/>
                <a:ea typeface="Noto Sans KR"/>
                <a:cs typeface="Noto Sans KR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1672" cy="8595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spc="-56">
                <a:latin typeface="Noto Sans KR"/>
                <a:ea typeface="Noto Sans KR"/>
                <a:cs typeface="Noto Sans KR"/>
                <a:solidFill>
                  <a:srgbClr val="334155"/>
                </a:solidFill>
              </a:rPr>
              <a:t xml:space="preserve">오늘의 </a:t>
            </a:r>
            <a:r>
              <a:rPr sz="2800" b="1" spc="-56">
                <a:latin typeface="Noto Sans KR"/>
                <a:ea typeface="Noto Sans KR"/>
                <a:cs typeface="Noto Sans KR"/>
                <a:solidFill>
                  <a:srgbClr val="2E93D9"/>
                </a:solidFill>
              </a:rPr>
              <a:t xml:space="preserve">진행 순서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17904"/>
            <a:ext cx="566928" cy="45720"/>
          </a:xfrm>
          <a:prstGeom prst="roundRect">
            <a:avLst>
              <a:gd name="adj" fmla="val 50000"/>
            </a:avLst>
          </a:prstGeom>
          <a:solidFill>
            <a:srgbClr val="4CB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10378440" cy="7863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latin typeface="Noto Sans KR"/>
                <a:ea typeface="Noto Sans KR"/>
                <a:cs typeface="Noto Sans KR"/>
                <a:solidFill>
                  <a:srgbClr val="2E93D9"/>
                </a:solidFill>
              </a:rPr>
              <a:t>학습이론 세 갈래에서 교수이론으로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52927"/>
            <a:ext cx="5408676" cy="658368"/>
          </a:xfrm>
          <a:prstGeom prst="roundRect">
            <a:avLst>
              <a:gd name="adj" fmla="val 1388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3044951"/>
            <a:ext cx="274320" cy="274320"/>
          </a:xfrm>
          <a:prstGeom prst="ellipse">
            <a:avLst/>
          </a:prstGeom>
          <a:solidFill>
            <a:srgbClr val="2E9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16351"/>
            <a:ext cx="2743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816351"/>
            <a:ext cx="4860036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2E93D9"/>
                </a:solidFill>
                <a:latin typeface="Noto Sans KR"/>
                <a:ea typeface="Noto Sans KR"/>
                <a:cs typeface="Noto Sans KR"/>
              </a:rPr>
              <a:t>학습이론의 기초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776472"/>
            <a:ext cx="274320" cy="274320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47872"/>
            <a:ext cx="2743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547872"/>
            <a:ext cx="4860036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행동주의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507992"/>
            <a:ext cx="274320" cy="274320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279392"/>
            <a:ext cx="2743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4279392"/>
            <a:ext cx="4860036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인지주의</a:t>
            </a:r>
          </a:p>
        </p:txBody>
      </p:sp>
      <p:sp>
        <p:nvSpPr>
          <p:cNvPr id="18" name="Oval 17"/>
          <p:cNvSpPr/>
          <p:nvPr/>
        </p:nvSpPr>
        <p:spPr>
          <a:xfrm>
            <a:off x="6323076" y="3044951"/>
            <a:ext cx="274320" cy="274320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2816351"/>
            <a:ext cx="2743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3700" y="2816351"/>
            <a:ext cx="4860036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구성주의</a:t>
            </a:r>
          </a:p>
        </p:txBody>
      </p:sp>
      <p:sp>
        <p:nvSpPr>
          <p:cNvPr id="21" name="Oval 20"/>
          <p:cNvSpPr/>
          <p:nvPr/>
        </p:nvSpPr>
        <p:spPr>
          <a:xfrm>
            <a:off x="6323076" y="3776472"/>
            <a:ext cx="274320" cy="274320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3076" y="3547872"/>
            <a:ext cx="2743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3700" y="3547872"/>
            <a:ext cx="4860036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세 이론 비교</a:t>
            </a:r>
          </a:p>
        </p:txBody>
      </p:sp>
      <p:sp>
        <p:nvSpPr>
          <p:cNvPr id="24" name="Oval 23"/>
          <p:cNvSpPr/>
          <p:nvPr/>
        </p:nvSpPr>
        <p:spPr>
          <a:xfrm>
            <a:off x="6323076" y="4507992"/>
            <a:ext cx="274320" cy="274320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3076" y="4279392"/>
            <a:ext cx="2743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3700" y="4279392"/>
            <a:ext cx="4860036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교수이론으로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309360"/>
            <a:ext cx="1109167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43032" y="6382512"/>
            <a:ext cx="109728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Noto Sans K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Noto Sans K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